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878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66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502920" cy="502920"/>
          </a:xfrm>
          <a:prstGeom prst="ellipse">
            <a:avLst/>
          </a:prstGeom>
          <a:solidFill>
            <a:srgbClr val="1BAF7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371600"/>
            <a:ext cx="292608" cy="292608"/>
          </a:xfrm>
          <a:prstGeom prst="ellipse">
            <a:avLst/>
          </a:prstGeom>
          <a:solidFill>
            <a:srgbClr val="2A78D6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737360"/>
            <a:ext cx="201168" cy="201168"/>
          </a:xfrm>
          <a:prstGeom prst="ellipse">
            <a:avLst/>
          </a:prstGeom>
          <a:solidFill>
            <a:srgbClr val="EDA100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502920"/>
            <a:ext cx="164592" cy="164592"/>
          </a:xfrm>
          <a:prstGeom prst="ellipse">
            <a:avLst/>
          </a:prstGeom>
          <a:solidFill>
            <a:srgbClr val="D03B3B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BOSS III 精準行銷引擎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精準行銷月度建議書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en-US" altLang="zh-TW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年1</a:t>
            </a:r>
            <a:r>
              <a:rPr lang="en-US" altLang="zh-TW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　｜　流失挽留・VIP套組升級・沉睡客喚醒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394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5310000"/>
            <a:ext cx="65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組長：</a:t>
            </a:r>
            <a:r>
              <a:rPr lang="zh-TW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劉冠廷</a:t>
            </a:r>
            <a:endParaRPr lang="zh-TW" sz="1400" dirty="0"/>
          </a:p>
          <a:p>
            <a:pPr marL="0" indent="0">
              <a:buNone/>
            </a:pPr>
            <a:r>
              <a:rPr lang="zh-TW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組員：</a:t>
            </a:r>
            <a:r>
              <a:rPr lang="zh-TW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陳又昱、15 林哲均</a:t>
            </a:r>
            <a:endParaRPr lang="zh-TW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結論先行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三大行動目標：挽留、升級、喚醒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本次分析涵蓋 1,500 位客戶，我們鎖定三大行動目標：①流失客戶挽留—攔截高風險名單、防止營收流失；②VIP套組升級—交叉銷售拉高客單價；③沉睡客戶喚醒—低成本喚回沉睡客群。三者互補，兼顧防守與成長，預估月度淨增營收上看 +159.7 萬。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53512"/>
            <a:ext cx="502920" cy="50292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流失客戶挽留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+11.0 萬/月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高風險名單即時攔截，回購喚回優先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D03B3B">
              <a:alpha val="12000"/>
            </a:srgbClr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12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防守｜止血優先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26974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953512"/>
            <a:ext cx="502920" cy="5029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VIP套組升級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+142.2 萬/月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44348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關聯交叉銷售，拉高客單價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5212080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1BAF7A">
              <a:alpha val="12000"/>
            </a:srgbClr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5212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成長｜空間最大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269748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03920" y="2953512"/>
            <a:ext cx="502920" cy="50292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0" y="3566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沉睡客戶喚醒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03920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 萬/月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03920" y="44348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全站熱銷推薦，低成本喚回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03920" y="5212080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DA100">
              <a:alpha val="12000"/>
            </a:srgbClr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5212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嘗試｜成本最低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客戶儀表板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四大客群輪廓與經營建議</a:t>
            </a:r>
            <a:endParaRPr lang="en-US" sz="2800" dirty="0"/>
          </a:p>
        </p:txBody>
      </p:sp>
      <p:pic>
        <p:nvPicPr>
          <p:cNvPr id="4" name="Image 0" descr="/tmp/work2/charts/char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492240" cy="4224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572768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高頻高額　542人（36.1%）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8952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核心貢獻，優先交叉銷售升級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69480" y="2532888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穩定中段　444人（29.6%）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0" y="2770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腰部客群，關聯推薦＋新品試探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3493008"/>
            <a:ext cx="201168" cy="201168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流失高風險　397人（26.5%）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89520" y="3730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優先關注，回購喚回即時挽留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69480" y="4453128"/>
            <a:ext cx="201168" cy="201168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沉睡客戶　117人（7.8%）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89520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低成本喚醒，找回下單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89520" y="5349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四分群清楚描繪 1,500 位客戶樣貌，四群輪廓分明，可依此擬定差異化行銷動作。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流失預警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門檻 50%：340 位高風險客戶主因分析</a:t>
            </a:r>
            <a:endParaRPr lang="en-US" sz="2800" dirty="0"/>
          </a:p>
        </p:txBody>
      </p:sp>
      <p:pic>
        <p:nvPicPr>
          <p:cNvPr id="4" name="Image 0" descr="/tmp/work2/charts/chart_r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583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1490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26948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高風險客戶數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6948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 of 1,500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1832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0" y="1490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183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Recall（</a:t>
            </a:r>
            <a:r>
              <a:rPr lang="zh-TW" alt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</a:t>
            </a:r>
            <a:r>
              <a:rPr lang="en-US" sz="11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率）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41832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37.9%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6948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主因與客製化配套動作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69480" y="3063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長時間沒下單＋頻次低 70.6%　</a:t>
            </a:r>
            <a:r>
              <a:rPr lang="en-US" altLang="zh-TW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推送優惠通知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69480" y="36667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近期下單變稀 21.5%　</a:t>
            </a:r>
            <a:r>
              <a:rPr lang="zh-TW" alt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altLang="zh-TW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VIP電話挽留＋折扣券</a:t>
            </a:r>
            <a:r>
              <a:rPr lang="zh-TW" alt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69480" y="42702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投訴次數高 7.6%　</a:t>
            </a:r>
            <a:r>
              <a:rPr lang="zh-TW" alt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客服主動聯繫＋補救方案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69480" y="491947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</a:t>
            </a: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Top10 </a:t>
            </a:r>
            <a:r>
              <a:rPr lang="en-US" sz="11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優先聯繫名單</a:t>
            </a:r>
            <a:r>
              <a:rPr lang="zh-TW" altLang="en-US" sz="1100" b="0" i="0" dirty="0">
                <a:solidFill>
                  <a:srgbClr val="7D353B"/>
                </a:solidFill>
                <a:effectLst/>
                <a:latin typeface="Source Sans Pro" panose="020B0604020202020204" pitchFamily="34" charset="0"/>
              </a:rPr>
              <a:t>平均流失機率 </a:t>
            </a:r>
            <a:r>
              <a:rPr lang="en-US" altLang="zh-TW" sz="1100" b="1" i="0" dirty="0">
                <a:solidFill>
                  <a:srgbClr val="7D353B"/>
                </a:solidFill>
                <a:effectLst/>
                <a:latin typeface="Source Sans Pro" panose="020B0604020202020204" pitchFamily="34" charset="0"/>
              </a:rPr>
              <a:t>99%</a:t>
            </a:r>
            <a:r>
              <a:rPr lang="zh-TW" altLang="en-US" sz="1100" b="0" i="0" dirty="0">
                <a:solidFill>
                  <a:srgbClr val="7D353B"/>
                </a:solidFill>
                <a:effectLst/>
                <a:latin typeface="Source Sans Pro" panose="020B0604020202020204" pitchFamily="34" charset="0"/>
              </a:rPr>
              <a:t> </a:t>
            </a:r>
            <a:r>
              <a:rPr lang="en-US" altLang="zh-TW" sz="1100" b="0" i="0" dirty="0">
                <a:solidFill>
                  <a:srgbClr val="7D353B"/>
                </a:solidFill>
                <a:effectLst/>
                <a:latin typeface="Source Sans Pro" panose="020B0604020202020204" pitchFamily="34" charset="0"/>
              </a:rPr>
              <a:t>· </a:t>
            </a:r>
            <a:r>
              <a:rPr lang="zh-TW" altLang="en-US" sz="1100" b="0" i="0" dirty="0">
                <a:solidFill>
                  <a:srgbClr val="7D353B"/>
                </a:solidFill>
                <a:effectLst/>
                <a:latin typeface="Source Sans Pro" panose="020B0604020202020204" pitchFamily="34" charset="0"/>
              </a:rPr>
              <a:t>建議由客服納入「熱銷喚醒推送」本週優先發送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tmp/work2/charts/chart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492240" cy="33832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銷量預測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Top5 異常旗全為「過冷」，源於11月異常高峰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489204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近3個月均值涵蓋11月促銷高峰（尿布11月出貨量達平常 3.4 倍），墊高比較基期，使下月點估看似「過冷」，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並非真實下滑。已改採Prophet或去年同月Baseline排除異常干擾，更準確反映</a:t>
            </a:r>
            <a:r>
              <a:rPr lang="zh-TW" alt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月淡季實況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687456"/>
              </p:ext>
            </p:extLst>
          </p:nvPr>
        </p:nvGraphicFramePr>
        <p:xfrm>
          <a:off x="7269480" y="1463040"/>
          <a:ext cx="4434840" cy="230428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近3月均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下月預測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異常旗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尿布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★Prophet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</a:t>
                      </a: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過冷</a:t>
                      </a:r>
                      <a:r>
                        <a:rPr lang="en-US" sz="105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-48.7%</a:t>
                      </a: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紅酒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★Prophet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863</a:t>
                      </a: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過冷 -38.5%</a:t>
                      </a: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</a:t>
                      </a: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zh-TW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過冷 -13.4%</a:t>
                      </a: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★Prophet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zh-TW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過冷 -32.7%</a:t>
                      </a: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啤酒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zh-TW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過冷 -60.0%</a:t>
                      </a:r>
                      <a:endParaRPr lang="en-US" sz="10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269480" y="43434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Top5 SKU 建議總備貨量 4,625 個；5支SKU異常旗皆為過冷（＝變化量全為負）。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72F148F-2369-4CA1-B6A5-C69DF351C78B}"/>
              </a:ext>
            </a:extLst>
          </p:cNvPr>
          <p:cNvCxnSpPr>
            <a:cxnSpLocks/>
          </p:cNvCxnSpPr>
          <p:nvPr/>
        </p:nvCxnSpPr>
        <p:spPr>
          <a:xfrm>
            <a:off x="6553200" y="3869267"/>
            <a:ext cx="143933" cy="2540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3BF21069-ABF9-4515-9813-606CD52827CE}"/>
              </a:ext>
            </a:extLst>
          </p:cNvPr>
          <p:cNvSpPr/>
          <p:nvPr/>
        </p:nvSpPr>
        <p:spPr>
          <a:xfrm>
            <a:off x="6394873" y="3725333"/>
            <a:ext cx="560493" cy="550503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E17C43A-0D9F-4D26-B8E2-04EFF422C506}"/>
              </a:ext>
            </a:extLst>
          </p:cNvPr>
          <p:cNvCxnSpPr>
            <a:cxnSpLocks/>
          </p:cNvCxnSpPr>
          <p:nvPr/>
        </p:nvCxnSpPr>
        <p:spPr>
          <a:xfrm flipV="1">
            <a:off x="6705599" y="3988477"/>
            <a:ext cx="0" cy="220133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39D624B3-9BD3-4FC8-BE30-FD276F97F6E4}"/>
              </a:ext>
            </a:extLst>
          </p:cNvPr>
          <p:cNvSpPr/>
          <p:nvPr/>
        </p:nvSpPr>
        <p:spPr>
          <a:xfrm>
            <a:off x="6680199" y="4066371"/>
            <a:ext cx="50800" cy="643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推薦引擎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四分群差異化銷售策略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Apriori 關聯規則與客群輪廓，四大客群各走不同推薦邏輯，兼顧客單價成長與快速下單轉換。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28316"/>
            <a:ext cx="292608" cy="29260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460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高頻高額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24460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關聯交叉銷售拉高單價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從已買品項比對Lift≥1.3規則，推薦未買關聯品（尿布+啤酒、紅酒+起司），套組88折＋尊榮配送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717036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6347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穩定中段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3300" y="36210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關聯推薦＋新品試探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先推關聯品，再用新品SKU測試提頻，配套9折，目標把4次/期買成6次/期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905756"/>
            <a:ext cx="292608" cy="292608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8280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流失高風險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4819617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回購喚回＋關聯品補位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5262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優先推他過去最常買的品項（決策門檻最低），常買品項折200＋客服主動聯繫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5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6094476"/>
            <a:ext cx="292608" cy="292608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600297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沉睡客戶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600297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全站熱銷推薦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57150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多半無近期紀錄，用熱銷榜降低喚醒門檻，任選2件88折＋免運，先求回來下一單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一頁建議書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行動優先順序：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先止血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2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再成長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2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後嘗試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三方案互補推進——先攔截高價值流失客戶止血，再放大VIP交叉銷售成長空間，最後以低成本喚醒沉睡客群。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1B335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流失客戶挽留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+11.0 萬/月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397位流失高風險客戶月消費總額36.7萬，挽回增益高，防止立即流失，急迫性最高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1B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VIP套組升級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+142.2 萬/月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663440" y="3931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542位VIP客單價8,747元，交叉銷售轉換率30%，成長空間最大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0574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1B335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2331720"/>
            <a:ext cx="502920" cy="50292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29718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沉睡客戶喚醒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 萬/月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503920" y="3931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117位沉睡客戶，喚醒成本低，作為低成本嘗試方案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樂觀情境：</a:t>
            </a:r>
            <a:r>
              <a:rPr lang="en-US" sz="12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+159.7 萬/月　</a:t>
            </a:r>
            <a:r>
              <a:rPr lang="en-US" sz="11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悲觀情境（達成率僅1/3）：</a:t>
            </a:r>
            <a:r>
              <a:rPr lang="en-US" sz="12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+53.2 萬/月　</a:t>
            </a:r>
            <a:r>
              <a:rPr lang="en-US" sz="115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不作為情境：</a:t>
            </a: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-36.7 萬/月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III 精準行銷引擎 · 第六組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562</Words>
  <Application>Microsoft Office PowerPoint</Application>
  <PresentationFormat>寬螢幕</PresentationFormat>
  <Paragraphs>126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Source Sans Pro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15</cp:revision>
  <dcterms:created xsi:type="dcterms:W3CDTF">2026-07-17T03:28:15Z</dcterms:created>
  <dcterms:modified xsi:type="dcterms:W3CDTF">2026-07-17T05:51:34Z</dcterms:modified>
</cp:coreProperties>
</file>