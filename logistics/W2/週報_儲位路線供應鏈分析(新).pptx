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42" y="10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658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老闆早，這禮拜同時處理三個不同案子，接下來用七分鐘跟您報告我們的發現和下一步規劃。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這三個案子分屬三家不同企業，但方法一致：先用數據找到真正原因，再談對策，接下來一個一個講。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先看第一個案例，虛擬企業A，一家3PL物流商，他們的問題是倉儲揀貨太慢。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先說明一下：C類冷門品項38個，數量比A、B類都多，這是正常的長尾現象，不是資料算錯。現況儲位是照SKU編號排放，跟銷售熱度無關，揀貨員每天為了冷門商品到處走，熱銷品反而沒放在動線最短的位置。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A類熱銷品集中配置到出口動態熱區之後，揀貨距離平均降了9%左右。要提醒一個限制：現有儲位規格跟實際分類數不符，多出來的品項會溢出形成混合儲位，這個有在圖上標出來。下一步，季節性商品要定期重跑分類，避免退燒商品占著黃金儲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接下來看第二個案例，虛擬企業B，中部一家4PL配送商，問題是配送常常遲到。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9月將近六千筆訂單，整體準時率79.6%。這次九條路線全部列出來：R-03只有24.9%，其他大概八到九成，只有R-06勉強到90%。若只看司機排名，D-07全公司最低，容易被誤判成個人績效問題。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我們做了控制變量分析：同一位司機D-07換一條路線，準時率立刻從18%回升到六成七、六成九，證明問題在路線，不在人。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個發現。第一個也是最主要的：排除R-03後，全公司18到19點準時率仍從88%掉到78%，是系統性晚間壅塞，不是誰的問題。第二，同樣壅塞下，D-07又比其他司機再低一截，建議了解狀況，不是拿來考核。第三，R-03長期只有兩位司機在跑，其餘10位從未輪調，這是排班漏洞，也是這次能做出因果判斷的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對策分兩軌。短期：重新校準R-03的ETA，晚間全公司加緩衝，這一週先不換人、不處分，安排跟D-07聊聊了解狀況。長期：實地重測R-03路線、排進正常輪調池，建立分時段ETA模型，一次解決，不用每次靠人工加緩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最後第三個案例，虛擬企業C，一家食品批發商，問題是庫存積壓，大家互踢皮球。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我們把採購單、進貨明細、銷售明細三張表串起來，用過去三個月均量對照九月當月數字。這四個門檻是供應鏈管理常用的量化標準，不是我們這次隨便訂的，可以疊加判定。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積壓最嚴重的是S-1015，進貨量是過去三月均量的10.3倍。但不是只有這1檔，全公司「採購過量」總共12檔，下一頁會列出完整處理範圍。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部50個SKU裡，14個觸發預警，其中12檔是採購過量，不只S-1015——像S-1007積壓只有60件沒進Top5，但進貨是均量30倍。36個沒事，正常波動不用處理。另外5檔訂了卻零進貨，是斷貨風險，處方相反，不能一律減少採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對策一樣分兩軌。短期：暫停全部12檔已確診「採購過量」SKU的下一輪採購、重算安全庫存，斷貨風險的優先催貨。長期：把四個門檻寫成每月自動預警機制，建立積壓跟斷貨並列的監控儀表板，採購、業務、倉儲三方每月對一次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總結，這三個案子方法一致：先分清楚症狀跟真正的根因，證據不足的地方就列為待觀察。今天想跟老闆請示三個決策：儲位分類制度化、R-03的ETA校準跟輪調池、還有S-1015暫停下一輪採購。謝謝老闆，我們可以開始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C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284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9EC5F4"/>
                </a:solidFill>
                <a:latin typeface="Microsoft JhengHei"/>
              </a:rPr>
              <a:t>本週資料分析總覆盤</a:t>
            </a:r>
            <a:endParaRPr sz="1600" b="1" i="0" dirty="0">
              <a:solidFill>
                <a:srgbClr val="9EC5F4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 dirty="0" err="1">
                <a:solidFill>
                  <a:srgbClr val="FFFFFF"/>
                </a:solidFill>
                <a:latin typeface="Microsoft JhengHei"/>
              </a:rPr>
              <a:t>三個不同案場，一套方法</a:t>
            </a:r>
            <a:endParaRPr sz="42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 dirty="0" err="1">
                <a:solidFill>
                  <a:srgbClr val="C3C2B7"/>
                </a:solidFill>
                <a:latin typeface="Microsoft JhengHei"/>
              </a:rPr>
              <a:t>儲位重排</a:t>
            </a:r>
            <a:r>
              <a:rPr sz="1900" b="0" i="0" dirty="0">
                <a:solidFill>
                  <a:srgbClr val="C3C2B7"/>
                </a:solidFill>
                <a:latin typeface="Microsoft JhengHei"/>
              </a:rPr>
              <a:t> × </a:t>
            </a:r>
            <a:r>
              <a:rPr sz="1900" b="0" i="0" dirty="0" err="1">
                <a:solidFill>
                  <a:srgbClr val="C3C2B7"/>
                </a:solidFill>
                <a:latin typeface="Microsoft JhengHei"/>
              </a:rPr>
              <a:t>路線規劃</a:t>
            </a:r>
            <a:r>
              <a:rPr sz="1900" b="0" i="0" dirty="0">
                <a:solidFill>
                  <a:srgbClr val="C3C2B7"/>
                </a:solidFill>
                <a:latin typeface="Microsoft JhengHei"/>
              </a:rPr>
              <a:t> × </a:t>
            </a:r>
            <a:r>
              <a:rPr sz="1900" b="0" i="0" dirty="0" err="1">
                <a:solidFill>
                  <a:srgbClr val="C3C2B7"/>
                </a:solidFill>
                <a:latin typeface="Microsoft JhengHei"/>
              </a:rPr>
              <a:t>供應鏈串接</a:t>
            </a:r>
            <a:r>
              <a:rPr sz="1900" b="0" i="0" dirty="0">
                <a:solidFill>
                  <a:srgbClr val="C3C2B7"/>
                </a:solidFill>
                <a:latin typeface="Microsoft JhengHei"/>
              </a:rPr>
              <a:t> — </a:t>
            </a:r>
            <a:r>
              <a:rPr sz="1900" b="0" i="0" dirty="0" err="1">
                <a:solidFill>
                  <a:srgbClr val="C3C2B7"/>
                </a:solidFill>
                <a:latin typeface="Microsoft JhengHei"/>
              </a:rPr>
              <a:t>三個企業案例</a:t>
            </a:r>
            <a:endParaRPr sz="1900" b="0" i="0" dirty="0">
              <a:solidFill>
                <a:srgbClr val="C3C2B7"/>
              </a:solidFill>
              <a:latin typeface="Microsoft JhengHei"/>
            </a:endParaRPr>
          </a:p>
        </p:txBody>
      </p:sp>
      <p:sp>
        <p:nvSpPr>
          <p:cNvPr id="7" name="Oval 6"/>
          <p:cNvSpPr/>
          <p:nvPr/>
        </p:nvSpPr>
        <p:spPr>
          <a:xfrm>
            <a:off x="822960" y="4023359"/>
            <a:ext cx="146304" cy="14630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3977639"/>
            <a:ext cx="2926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dirty="0" err="1">
                <a:solidFill>
                  <a:srgbClr val="E1E0D9"/>
                </a:solidFill>
                <a:latin typeface="Microsoft JhengHei"/>
              </a:rPr>
              <a:t>企業A</a:t>
            </a:r>
            <a:r>
              <a:rPr sz="1300" b="0" i="0" dirty="0">
                <a:solidFill>
                  <a:srgbClr val="E1E0D9"/>
                </a:solidFill>
                <a:latin typeface="Microsoft JhengHei"/>
              </a:rPr>
              <a:t> · 3PL物流商</a:t>
            </a:r>
          </a:p>
        </p:txBody>
      </p:sp>
      <p:sp>
        <p:nvSpPr>
          <p:cNvPr id="9" name="Oval 8"/>
          <p:cNvSpPr/>
          <p:nvPr/>
        </p:nvSpPr>
        <p:spPr>
          <a:xfrm>
            <a:off x="4069080" y="4023359"/>
            <a:ext cx="146304" cy="146304"/>
          </a:xfrm>
          <a:prstGeom prst="ellipse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5112" y="3977639"/>
            <a:ext cx="2926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dirty="0" err="1">
                <a:solidFill>
                  <a:srgbClr val="E1E0D9"/>
                </a:solidFill>
                <a:latin typeface="Microsoft JhengHei"/>
              </a:rPr>
              <a:t>企業B</a:t>
            </a:r>
            <a:r>
              <a:rPr sz="1300" b="0" i="0" dirty="0">
                <a:solidFill>
                  <a:srgbClr val="E1E0D9"/>
                </a:solidFill>
                <a:latin typeface="Microsoft JhengHei"/>
              </a:rPr>
              <a:t> · 4PL配送商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4023359"/>
            <a:ext cx="146304" cy="146304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2" y="3977639"/>
            <a:ext cx="2926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dirty="0" err="1">
                <a:solidFill>
                  <a:srgbClr val="E1E0D9"/>
                </a:solidFill>
                <a:latin typeface="Microsoft JhengHei"/>
              </a:rPr>
              <a:t>企業C</a:t>
            </a:r>
            <a:r>
              <a:rPr sz="1300" b="0" i="0" dirty="0">
                <a:solidFill>
                  <a:srgbClr val="E1E0D9"/>
                </a:solidFill>
                <a:latin typeface="Microsoft JhengHei"/>
              </a:rPr>
              <a:t> · </a:t>
            </a:r>
            <a:r>
              <a:rPr sz="1300" b="0" i="0" dirty="0" err="1">
                <a:solidFill>
                  <a:srgbClr val="E1E0D9"/>
                </a:solidFill>
                <a:latin typeface="Microsoft JhengHei"/>
              </a:rPr>
              <a:t>食品批發商</a:t>
            </a:r>
            <a:endParaRPr sz="1300" b="0" i="0" dirty="0">
              <a:solidFill>
                <a:srgbClr val="E1E0D9"/>
              </a:solidFill>
              <a:latin typeface="Microsoft Jheng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2026年7月10日（五）週報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355080"/>
            <a:ext cx="9601200" cy="12700"/>
          </a:xfrm>
          <a:prstGeom prst="rect">
            <a:avLst/>
          </a:prstGeom>
          <a:solidFill>
            <a:srgbClr val="284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100584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dirty="0">
                <a:solidFill>
                  <a:srgbClr val="9EC5F4"/>
                </a:solidFill>
                <a:latin typeface="Microsoft JhengHei"/>
              </a:rPr>
              <a:t>組長：</a:t>
            </a:r>
            <a:r>
              <a:rPr lang="en-US" altLang="zh-TW" sz="1250" b="0" i="0" dirty="0">
                <a:solidFill>
                  <a:srgbClr val="9EC5F4"/>
                </a:solidFill>
                <a:latin typeface="Microsoft JhengHei"/>
              </a:rPr>
              <a:t>05</a:t>
            </a:r>
            <a:r>
              <a:rPr lang="zh-TW" altLang="en-US" sz="1250" b="0" i="0" dirty="0">
                <a:solidFill>
                  <a:srgbClr val="9EC5F4"/>
                </a:solidFill>
                <a:latin typeface="Microsoft JhengHei"/>
              </a:rPr>
              <a:t>鄭博文</a:t>
            </a:r>
            <a:r>
              <a:rPr sz="1250" b="0" i="0" dirty="0">
                <a:solidFill>
                  <a:srgbClr val="9EC5F4"/>
                </a:solidFill>
                <a:latin typeface="Microsoft JhengHei"/>
              </a:rPr>
              <a:t>　</a:t>
            </a:r>
            <a:r>
              <a:rPr sz="1250" b="0" i="0" dirty="0" err="1">
                <a:solidFill>
                  <a:srgbClr val="9EC5F4"/>
                </a:solidFill>
                <a:latin typeface="Microsoft JhengHei"/>
              </a:rPr>
              <a:t>組員</a:t>
            </a:r>
            <a:r>
              <a:rPr lang="zh-TW" altLang="en-US" sz="1250" b="0" i="0" dirty="0">
                <a:solidFill>
                  <a:srgbClr val="9EC5F4"/>
                </a:solidFill>
                <a:latin typeface="Microsoft JhengHei"/>
              </a:rPr>
              <a:t>：</a:t>
            </a:r>
            <a:r>
              <a:rPr lang="en-US" altLang="zh-TW" sz="1250" b="0" i="0" dirty="0">
                <a:solidFill>
                  <a:srgbClr val="9EC5F4"/>
                </a:solidFill>
                <a:latin typeface="Microsoft JhengHei"/>
              </a:rPr>
              <a:t>06</a:t>
            </a:r>
            <a:r>
              <a:rPr lang="zh-TW" altLang="en-US" sz="1250" b="0" i="0" dirty="0">
                <a:solidFill>
                  <a:srgbClr val="9EC5F4"/>
                </a:solidFill>
                <a:latin typeface="Microsoft JhengHei"/>
              </a:rPr>
              <a:t>陳又昱</a:t>
            </a:r>
            <a:r>
              <a:rPr lang="en-US" altLang="zh-TW" sz="1250" b="0" i="0" dirty="0">
                <a:solidFill>
                  <a:srgbClr val="9EC5F4"/>
                </a:solidFill>
                <a:latin typeface="Microsoft JhengHei"/>
              </a:rPr>
              <a:t>,22</a:t>
            </a:r>
            <a:r>
              <a:rPr lang="zh-TW" altLang="en-US" sz="1250" b="0" i="0" dirty="0">
                <a:solidFill>
                  <a:srgbClr val="9EC5F4"/>
                </a:solidFill>
                <a:latin typeface="Microsoft JhengHei"/>
              </a:rPr>
              <a:t>劉竹瑛</a:t>
            </a:r>
            <a:endParaRPr sz="1250" b="0" i="0" dirty="0">
              <a:solidFill>
                <a:srgbClr val="9EC5F4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3C2B7"/>
                </a:solidFill>
                <a:latin typeface="Microsoft JhengHei"/>
              </a:rPr>
              <a:t>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JhengHei"/>
              </a:rPr>
              <a:t>本週三個案子，分屬三家不同企業，用同一套方法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4290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0" rtlCol="0" anchor="ctr"/>
          <a:lstStyle/>
          <a:p>
            <a:pPr algn="ctr"/>
            <a:r>
              <a:rPr sz="1250" dirty="0" err="1">
                <a:solidFill>
                  <a:srgbClr val="898781"/>
                </a:solidFill>
                <a:latin typeface="Microsoft JhengHei"/>
              </a:rPr>
              <a:t>企業</a:t>
            </a:r>
            <a:r>
              <a:rPr sz="1250" dirty="0">
                <a:solidFill>
                  <a:srgbClr val="898781"/>
                </a:solidFill>
                <a:latin typeface="Microsoft JhengHei"/>
              </a:rPr>
              <a:t> A · 3PL物流商</a:t>
            </a:r>
          </a:p>
          <a:p>
            <a:pPr algn="ctr">
              <a:spcBef>
                <a:spcPts val="1000"/>
              </a:spcBef>
            </a:pPr>
            <a:r>
              <a:rPr sz="2000" b="1" dirty="0" err="1">
                <a:solidFill>
                  <a:srgbClr val="2A78D6"/>
                </a:solidFill>
                <a:latin typeface="Microsoft JhengHei"/>
              </a:rPr>
              <a:t>儲位重排</a:t>
            </a:r>
            <a:endParaRPr sz="2000" b="1" dirty="0">
              <a:solidFill>
                <a:srgbClr val="2A78D6"/>
              </a:solidFill>
              <a:latin typeface="Microsoft JhengHei"/>
            </a:endParaRPr>
          </a:p>
          <a:p>
            <a:pPr algn="ctr">
              <a:spcBef>
                <a:spcPts val="1600"/>
              </a:spcBef>
            </a:pPr>
            <a:r>
              <a:rPr sz="1500" dirty="0" err="1">
                <a:solidFill>
                  <a:srgbClr val="0B0B0B"/>
                </a:solidFill>
                <a:latin typeface="Microsoft JhengHei"/>
              </a:rPr>
              <a:t>揀貨為什麼這麼慢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342900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51960" y="1783080"/>
            <a:ext cx="34290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0" rtlCol="0" anchor="ctr"/>
          <a:lstStyle/>
          <a:p>
            <a:pPr algn="ctr"/>
            <a:r>
              <a:rPr sz="1250" dirty="0" err="1">
                <a:solidFill>
                  <a:srgbClr val="898781"/>
                </a:solidFill>
                <a:latin typeface="Microsoft JhengHei"/>
              </a:rPr>
              <a:t>企業</a:t>
            </a:r>
            <a:r>
              <a:rPr sz="1250" dirty="0">
                <a:solidFill>
                  <a:srgbClr val="898781"/>
                </a:solidFill>
                <a:latin typeface="Microsoft JhengHei"/>
              </a:rPr>
              <a:t> B · 4PL配送商</a:t>
            </a:r>
          </a:p>
          <a:p>
            <a:pPr algn="ctr">
              <a:spcBef>
                <a:spcPts val="1000"/>
              </a:spcBef>
            </a:pPr>
            <a:r>
              <a:rPr sz="2000" b="1" dirty="0">
                <a:solidFill>
                  <a:srgbClr val="4A3AA7"/>
                </a:solidFill>
                <a:latin typeface="Microsoft JhengHei"/>
              </a:rPr>
              <a:t> </a:t>
            </a:r>
            <a:r>
              <a:rPr sz="2000" b="1" dirty="0" err="1">
                <a:solidFill>
                  <a:srgbClr val="4A3AA7"/>
                </a:solidFill>
                <a:latin typeface="Microsoft JhengHei"/>
              </a:rPr>
              <a:t>路線規劃</a:t>
            </a:r>
            <a:endParaRPr sz="2000" b="1" dirty="0">
              <a:solidFill>
                <a:srgbClr val="4A3AA7"/>
              </a:solidFill>
              <a:latin typeface="Microsoft JhengHei"/>
            </a:endParaRPr>
          </a:p>
          <a:p>
            <a:pPr algn="ctr">
              <a:spcBef>
                <a:spcPts val="1600"/>
              </a:spcBef>
            </a:pPr>
            <a:r>
              <a:rPr sz="1500" dirty="0" err="1">
                <a:solidFill>
                  <a:srgbClr val="0B0B0B"/>
                </a:solidFill>
                <a:latin typeface="Microsoft JhengHei"/>
              </a:rPr>
              <a:t>為什麼常常遲到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783080"/>
            <a:ext cx="3429000" cy="73152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01000" y="1783080"/>
            <a:ext cx="34290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0" rtlCol="0" anchor="ctr"/>
          <a:lstStyle/>
          <a:p>
            <a:pPr algn="ctr"/>
            <a:r>
              <a:rPr sz="1250" dirty="0" err="1">
                <a:solidFill>
                  <a:srgbClr val="898781"/>
                </a:solidFill>
                <a:latin typeface="Microsoft JhengHei"/>
              </a:rPr>
              <a:t>企業</a:t>
            </a:r>
            <a:r>
              <a:rPr sz="1250" dirty="0">
                <a:solidFill>
                  <a:srgbClr val="898781"/>
                </a:solidFill>
                <a:latin typeface="Microsoft JhengHei"/>
              </a:rPr>
              <a:t> C · </a:t>
            </a:r>
            <a:r>
              <a:rPr sz="1250" dirty="0" err="1">
                <a:solidFill>
                  <a:srgbClr val="898781"/>
                </a:solidFill>
                <a:latin typeface="Microsoft JhengHei"/>
              </a:rPr>
              <a:t>食品批發商</a:t>
            </a:r>
            <a:endParaRPr sz="1250" dirty="0">
              <a:solidFill>
                <a:srgbClr val="898781"/>
              </a:solidFill>
              <a:latin typeface="Microsoft JhengHei"/>
            </a:endParaRPr>
          </a:p>
          <a:p>
            <a:pPr algn="ctr">
              <a:spcBef>
                <a:spcPts val="1000"/>
              </a:spcBef>
            </a:pPr>
            <a:r>
              <a:rPr sz="2000" b="1" dirty="0">
                <a:solidFill>
                  <a:srgbClr val="1BAF7A"/>
                </a:solidFill>
                <a:latin typeface="Microsoft JhengHei"/>
              </a:rPr>
              <a:t> </a:t>
            </a:r>
            <a:r>
              <a:rPr sz="2000" b="1" dirty="0" err="1">
                <a:solidFill>
                  <a:srgbClr val="1BAF7A"/>
                </a:solidFill>
                <a:latin typeface="Microsoft JhengHei"/>
              </a:rPr>
              <a:t>供應鏈串接</a:t>
            </a:r>
            <a:endParaRPr sz="2000" b="1" dirty="0">
              <a:solidFill>
                <a:srgbClr val="1BAF7A"/>
              </a:solidFill>
              <a:latin typeface="Microsoft JhengHei"/>
            </a:endParaRPr>
          </a:p>
          <a:p>
            <a:pPr algn="ctr">
              <a:spcBef>
                <a:spcPts val="1600"/>
              </a:spcBef>
            </a:pPr>
            <a:r>
              <a:rPr sz="1500" dirty="0" err="1">
                <a:solidFill>
                  <a:srgbClr val="0B0B0B"/>
                </a:solidFill>
                <a:latin typeface="Microsoft JhengHei"/>
              </a:rPr>
              <a:t>庫存為什麼會積壓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783080"/>
            <a:ext cx="3429000" cy="7315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4434840"/>
            <a:ext cx="111556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三個客戶、三個產業，但都遇到「憑感覺做決定」的問題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3A3A38"/>
                </a:solidFill>
                <a:latin typeface="Microsoft JhengHei"/>
              </a:rPr>
              <a:t>▪  </a:t>
            </a:r>
            <a:r>
              <a:rPr sz="1500">
                <a:solidFill>
                  <a:srgbClr val="0B0B0B"/>
                </a:solidFill>
                <a:latin typeface="Microsoft JhengHei"/>
              </a:rPr>
              <a:t>共同方法：先用數據驗證真正原因，把「症狀」跟「根因」分開，再談對策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倉儲 × 配送 × 採購 — 三個案例的資料分析總覆盤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4F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194560"/>
            <a:ext cx="5486400" cy="54864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3474720"/>
            <a:ext cx="3840480" cy="38404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FFFFFF"/>
                </a:solidFill>
                <a:latin typeface="Microsoft JhengHei"/>
              </a:rPr>
              <a:t>案例一</a:t>
            </a:r>
            <a:r>
              <a:rPr sz="1600" b="1" i="0" dirty="0">
                <a:solidFill>
                  <a:srgbClr val="FFFFFF"/>
                </a:solidFill>
                <a:latin typeface="Microsoft JhengHei"/>
              </a:rPr>
              <a:t> / 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 dirty="0" err="1">
                <a:solidFill>
                  <a:srgbClr val="E1E0D9"/>
                </a:solidFill>
                <a:latin typeface="Microsoft JhengHei"/>
              </a:rPr>
              <a:t>企業</a:t>
            </a:r>
            <a:r>
              <a:rPr sz="1800" b="0" i="0" dirty="0">
                <a:solidFill>
                  <a:srgbClr val="E1E0D9"/>
                </a:solidFill>
                <a:latin typeface="Microsoft JhengHei"/>
              </a:rPr>
              <a:t> A · 3PL物流商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FFFFFF"/>
                </a:solidFill>
                <a:latin typeface="Microsoft JhengHei"/>
              </a:rPr>
              <a:t>儲位重排</a:t>
            </a:r>
            <a:endParaRPr sz="40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 dirty="0" err="1">
                <a:solidFill>
                  <a:srgbClr val="E1E0D9"/>
                </a:solidFill>
                <a:latin typeface="Microsoft JhengHei"/>
              </a:rPr>
              <a:t>揀貨為什麼這麼慢</a:t>
            </a:r>
            <a:r>
              <a:rPr sz="2000" b="0" i="1" dirty="0">
                <a:solidFill>
                  <a:srgbClr val="E1E0D9"/>
                </a:solidFill>
                <a:latin typeface="Microsoft JhengHei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9EC5F4"/>
                </a:solidFill>
                <a:latin typeface="Microsoft JhengHei"/>
              </a:rPr>
              <a:t> </a:t>
            </a:r>
            <a:r>
              <a:rPr sz="1350" b="1" i="0" dirty="0" err="1">
                <a:solidFill>
                  <a:srgbClr val="9EC5F4"/>
                </a:solidFill>
                <a:latin typeface="Microsoft JhengHei"/>
              </a:rPr>
              <a:t>儲位重排（企業A</a:t>
            </a:r>
            <a:r>
              <a:rPr sz="1350" b="1" i="0" dirty="0">
                <a:solidFill>
                  <a:srgbClr val="9EC5F4"/>
                </a:solidFill>
                <a:latin typeface="Microsoft JhengHei"/>
              </a:rPr>
              <a:t> · 3PL物流商）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JhengHei"/>
              </a:rPr>
              <a:t>熱銷品其實沒有放在好位置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bIns="10160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JhengHei"/>
              </a:rPr>
              <a:t>27 個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Microsoft JhengHei"/>
              </a:rPr>
              <a:t>A類熱銷 SKU · 佔出貨量 79.7%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7830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bIns="10160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JhengHei"/>
              </a:rPr>
              <a:t>35 個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Microsoft JhengHei"/>
              </a:rPr>
              <a:t>B類中量 SKU · 佔出貨量 15.2%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830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bIns="10160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JhengHei"/>
              </a:rPr>
              <a:t>38 個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Microsoft JhengHei"/>
              </a:rPr>
              <a:t>C類冷門 SKU · 佔出貨量 5.1%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11155680" cy="2984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10424160" cy="942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▪  數量上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C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類（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38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個）比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A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、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B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都多，是正常「長尾」現象：多數品項銷量小，加總僅佔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5%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出貨量，真正創造八成業績的是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27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個熱銷品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▪  現況儲位是「照 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SKU 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編號排放」，跟銷售熱度完全無關，真正熱賣的商品沒有放在動線最短的位置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▪  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100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個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SKU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中，前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9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個（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9%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）就撐起出貨量一半；最大單一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SKU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（即食麵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SKU001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）自己佔</a:t>
            </a:r>
            <a:r>
              <a:rPr lang="en-US" altLang="zh-TW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12.1% — </a:t>
            </a:r>
            <a:r>
              <a:rPr lang="zh-TW" altLang="en-US" sz="1300" b="1" dirty="0">
                <a:solidFill>
                  <a:srgbClr val="3A4336"/>
                </a:solidFill>
                <a:latin typeface="Microsoft JhengHei" panose="020B0604030504040204" pitchFamily="34" charset="-120"/>
              </a:rPr>
              <a:t>長尾是極端集中，不是均勻分散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倉儲 × 配送 × 採購 — 三個案例的資料分析總覆盤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9EC5F4"/>
                </a:solidFill>
                <a:latin typeface="Microsoft JhengHei"/>
              </a:rPr>
              <a:t> </a:t>
            </a:r>
            <a:r>
              <a:rPr sz="1350" b="1" i="0" dirty="0" err="1">
                <a:solidFill>
                  <a:srgbClr val="9EC5F4"/>
                </a:solidFill>
                <a:latin typeface="Microsoft JhengHei"/>
              </a:rPr>
              <a:t>儲位重排（企業A</a:t>
            </a:r>
            <a:r>
              <a:rPr sz="1350" b="1" i="0" dirty="0">
                <a:solidFill>
                  <a:srgbClr val="9EC5F4"/>
                </a:solidFill>
                <a:latin typeface="Microsoft JhengHei"/>
              </a:rPr>
              <a:t> · 3PL物流商）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JhengHei"/>
              </a:rPr>
              <a:t>重排後：熱銷品集中到出口動態熱區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" y="1709927"/>
            <a:ext cx="7004304" cy="346332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rt_d1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4519"/>
            <a:ext cx="6675120" cy="31341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874519"/>
            <a:ext cx="1783080" cy="1188720"/>
          </a:xfrm>
          <a:prstGeom prst="roundRect">
            <a:avLst>
              <a:gd name="adj" fmla="val 8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bIns="10160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JhengHei"/>
              </a:rPr>
              <a:t>-9.1%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Microsoft JhengHei"/>
              </a:rPr>
              <a:t>揀貨距離
（依出貨量）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1874519"/>
            <a:ext cx="1783080" cy="118872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bIns="10160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JhengHei"/>
              </a:rPr>
              <a:t>-5.3%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  <a:latin typeface="Microsoft JhengHei"/>
              </a:rPr>
              <a:t>揀貨距離
（依訂單筆數）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337560"/>
            <a:ext cx="3749039" cy="122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00" b="1" dirty="0">
                <a:solidFill>
                  <a:srgbClr val="2A78D6"/>
                </a:solidFill>
                <a:latin typeface="Microsoft JhengHei"/>
              </a:rPr>
              <a:t>▪ 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兩種算法方向一致：熱銷品越靠近出口，揀貨距離就越短</a:t>
            </a:r>
            <a:endParaRPr sz="1300" dirty="0">
              <a:solidFill>
                <a:srgbClr val="0B0B0B"/>
              </a:solidFill>
              <a:latin typeface="Microsoft JhengHei"/>
            </a:endParaRP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zh-TW" altLang="en-US" sz="1300" b="1" dirty="0">
                <a:solidFill>
                  <a:srgbClr val="2A78D6"/>
                </a:solidFill>
                <a:latin typeface="Microsoft JhengHei"/>
              </a:rPr>
              <a:t>▪  </a:t>
            </a:r>
            <a:r>
              <a:rPr lang="zh-TW" altLang="en-US" sz="1300" dirty="0">
                <a:solidFill>
                  <a:srgbClr val="0B0B0B"/>
                </a:solidFill>
                <a:latin typeface="Microsoft JhengHei"/>
              </a:rPr>
              <a:t>建議：季節性商品每季重跑分類，避免換季後黃金儲位仍留給退燒商品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倉儲 × 配送 × 採購 — 三個案例的資料分析總覆盤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2D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194560"/>
            <a:ext cx="5486400" cy="5486400"/>
          </a:xfrm>
          <a:prstGeom prst="ellipse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3474720"/>
            <a:ext cx="3840480" cy="3840480"/>
          </a:xfrm>
          <a:prstGeom prst="ellipse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案例二 / 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 dirty="0" err="1">
                <a:solidFill>
                  <a:srgbClr val="E1E0D9"/>
                </a:solidFill>
                <a:latin typeface="Microsoft JhengHei"/>
              </a:rPr>
              <a:t>企業</a:t>
            </a:r>
            <a:r>
              <a:rPr sz="1800" b="0" i="0" dirty="0">
                <a:solidFill>
                  <a:srgbClr val="E1E0D9"/>
                </a:solidFill>
                <a:latin typeface="Microsoft JhengHei"/>
              </a:rPr>
              <a:t> B · 4PL配送商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FFFFFF"/>
                </a:solidFill>
                <a:latin typeface="Microsoft JhengHei"/>
              </a:rPr>
              <a:t>路線規劃</a:t>
            </a:r>
            <a:endParaRPr sz="40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E1E0D9"/>
                </a:solidFill>
                <a:latin typeface="Microsoft JhengHei"/>
              </a:rPr>
              <a:t>為什麼常常遲到？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C9C0EA"/>
                </a:solidFill>
                <a:latin typeface="Microsoft JhengHei"/>
              </a:rPr>
              <a:t> </a:t>
            </a:r>
            <a:r>
              <a:rPr sz="1350" b="1" i="0" dirty="0" err="1">
                <a:solidFill>
                  <a:srgbClr val="C9C0EA"/>
                </a:solidFill>
                <a:latin typeface="Microsoft JhengHei"/>
              </a:rPr>
              <a:t>路線規劃（企業B</a:t>
            </a:r>
            <a:r>
              <a:rPr sz="1350" b="1" i="0" dirty="0">
                <a:solidFill>
                  <a:srgbClr val="C9C0EA"/>
                </a:solidFill>
                <a:latin typeface="Microsoft JhengHei"/>
              </a:rPr>
              <a:t> · 4PL配送商）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JhengHei"/>
              </a:rPr>
              <a:t>平均準時率 79.6%，但九條路線差很大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" y="1527048"/>
            <a:ext cx="6272784" cy="34530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rt_d2_route_ot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943600" cy="31238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49440" y="1523854"/>
            <a:ext cx="475488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2379995"/>
            <a:ext cx="4114800" cy="20980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5000"/>
              </a:lnSpc>
              <a:spcAft>
                <a:spcPts val="1800"/>
              </a:spcAft>
            </a:pPr>
            <a:r>
              <a:rPr sz="1450" b="1" dirty="0">
                <a:solidFill>
                  <a:srgbClr val="4A3AA7"/>
                </a:solidFill>
                <a:latin typeface="Microsoft JhengHei"/>
              </a:rPr>
              <a:t>▪  </a:t>
            </a:r>
            <a:r>
              <a:rPr sz="1450" dirty="0">
                <a:solidFill>
                  <a:srgbClr val="0B0B0B"/>
                </a:solidFill>
                <a:latin typeface="Microsoft JhengHei"/>
              </a:rPr>
              <a:t>9 </a:t>
            </a:r>
            <a:r>
              <a:rPr sz="1450" dirty="0" err="1">
                <a:solidFill>
                  <a:srgbClr val="0B0B0B"/>
                </a:solidFill>
                <a:latin typeface="Microsoft JhengHei"/>
              </a:rPr>
              <a:t>月共</a:t>
            </a:r>
            <a:r>
              <a:rPr sz="1450" dirty="0">
                <a:solidFill>
                  <a:srgbClr val="0B0B0B"/>
                </a:solidFill>
                <a:latin typeface="Microsoft JhengHei"/>
              </a:rPr>
              <a:t> 5,935 </a:t>
            </a:r>
            <a:r>
              <a:rPr sz="1450" dirty="0" err="1">
                <a:solidFill>
                  <a:srgbClr val="0B0B0B"/>
                </a:solidFill>
                <a:latin typeface="Microsoft JhengHei"/>
              </a:rPr>
              <a:t>筆訂單</a:t>
            </a:r>
            <a:r>
              <a:rPr sz="1450" dirty="0">
                <a:solidFill>
                  <a:srgbClr val="0B0B0B"/>
                </a:solidFill>
                <a:latin typeface="Microsoft JhengHei"/>
              </a:rPr>
              <a:t> · 9 </a:t>
            </a:r>
            <a:r>
              <a:rPr sz="1450" dirty="0" err="1">
                <a:solidFill>
                  <a:srgbClr val="0B0B0B"/>
                </a:solidFill>
                <a:latin typeface="Microsoft JhengHei"/>
              </a:rPr>
              <a:t>條路線</a:t>
            </a:r>
            <a:r>
              <a:rPr sz="1450" dirty="0">
                <a:solidFill>
                  <a:srgbClr val="0B0B0B"/>
                </a:solidFill>
                <a:latin typeface="Microsoft JhengHei"/>
              </a:rPr>
              <a:t> · 12 </a:t>
            </a:r>
            <a:r>
              <a:rPr sz="1450" dirty="0" err="1">
                <a:solidFill>
                  <a:srgbClr val="0B0B0B"/>
                </a:solidFill>
                <a:latin typeface="Microsoft JhengHei"/>
              </a:rPr>
              <a:t>位司機（含貨損判定，全部</a:t>
            </a:r>
            <a:r>
              <a:rPr sz="1450" dirty="0">
                <a:solidFill>
                  <a:srgbClr val="0B0B0B"/>
                </a:solidFill>
                <a:latin typeface="Microsoft JhengHei"/>
              </a:rPr>
              <a:t> 9 </a:t>
            </a:r>
            <a:r>
              <a:rPr sz="1450" dirty="0" err="1">
                <a:solidFill>
                  <a:srgbClr val="0B0B0B"/>
                </a:solidFill>
                <a:latin typeface="Microsoft JhengHei"/>
              </a:rPr>
              <a:t>條路線都列出，非只挑最差的看</a:t>
            </a:r>
            <a:r>
              <a:rPr sz="1450" dirty="0">
                <a:solidFill>
                  <a:srgbClr val="0B0B0B"/>
                </a:solidFill>
                <a:latin typeface="Microsoft JhengHei"/>
              </a:rPr>
              <a:t>）</a:t>
            </a:r>
          </a:p>
          <a:p>
            <a:pPr>
              <a:lnSpc>
                <a:spcPct val="135000"/>
              </a:lnSpc>
              <a:spcAft>
                <a:spcPts val="1800"/>
              </a:spcAft>
            </a:pPr>
            <a:r>
              <a:rPr sz="1450" b="1" dirty="0">
                <a:solidFill>
                  <a:srgbClr val="4A3AA7"/>
                </a:solidFill>
                <a:latin typeface="Microsoft JhengHei"/>
              </a:rPr>
              <a:t>▪  </a:t>
            </a:r>
            <a:r>
              <a:rPr sz="1450" dirty="0">
                <a:solidFill>
                  <a:srgbClr val="0B0B0B"/>
                </a:solidFill>
                <a:latin typeface="Microsoft JhengHei"/>
              </a:rPr>
              <a:t>R-03 </a:t>
            </a:r>
            <a:r>
              <a:rPr sz="1450" dirty="0" err="1">
                <a:solidFill>
                  <a:srgbClr val="0B0B0B"/>
                </a:solidFill>
                <a:latin typeface="Microsoft JhengHei"/>
              </a:rPr>
              <a:t>準時率僅</a:t>
            </a:r>
            <a:r>
              <a:rPr sz="1450" dirty="0">
                <a:solidFill>
                  <a:srgbClr val="0B0B0B"/>
                </a:solidFill>
                <a:latin typeface="Microsoft JhengHei"/>
              </a:rPr>
              <a:t> 24.9%，</a:t>
            </a:r>
            <a:r>
              <a:rPr sz="1450" dirty="0" err="1">
                <a:solidFill>
                  <a:srgbClr val="0B0B0B"/>
                </a:solidFill>
                <a:latin typeface="Microsoft JhengHei"/>
              </a:rPr>
              <a:t>遠低於其他路線；只有</a:t>
            </a:r>
            <a:r>
              <a:rPr sz="1450" dirty="0">
                <a:solidFill>
                  <a:srgbClr val="0B0B0B"/>
                </a:solidFill>
                <a:latin typeface="Microsoft JhengHei"/>
              </a:rPr>
              <a:t> R-06 </a:t>
            </a:r>
            <a:r>
              <a:rPr sz="1450" dirty="0" err="1">
                <a:solidFill>
                  <a:srgbClr val="0B0B0B"/>
                </a:solidFill>
                <a:latin typeface="Microsoft JhengHei"/>
              </a:rPr>
              <a:t>到達</a:t>
            </a:r>
            <a:r>
              <a:rPr sz="1450" dirty="0">
                <a:solidFill>
                  <a:srgbClr val="0B0B0B"/>
                </a:solidFill>
                <a:latin typeface="Microsoft JhengHei"/>
              </a:rPr>
              <a:t> 90% </a:t>
            </a:r>
            <a:r>
              <a:rPr sz="1450" dirty="0" err="1">
                <a:solidFill>
                  <a:srgbClr val="0B0B0B"/>
                </a:solidFill>
                <a:latin typeface="Microsoft JhengHei"/>
              </a:rPr>
              <a:t>以上的黃燈水準，其餘</a:t>
            </a:r>
            <a:r>
              <a:rPr sz="1450" dirty="0">
                <a:solidFill>
                  <a:srgbClr val="0B0B0B"/>
                </a:solidFill>
                <a:latin typeface="Microsoft JhengHei"/>
              </a:rPr>
              <a:t> 8 </a:t>
            </a:r>
            <a:r>
              <a:rPr sz="1450" dirty="0" err="1">
                <a:solidFill>
                  <a:srgbClr val="0B0B0B"/>
                </a:solidFill>
                <a:latin typeface="Microsoft JhengHei"/>
              </a:rPr>
              <a:t>條都在紅燈區</a:t>
            </a:r>
            <a:endParaRPr sz="1450" dirty="0">
              <a:solidFill>
                <a:srgbClr val="0B0B0B"/>
              </a:solidFill>
              <a:latin typeface="Microsoft Jheng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倉儲 × 配送 × 採購 — 三個案例的資料分析總覆盤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C9C0EA"/>
                </a:solidFill>
                <a:latin typeface="Microsoft JhengHei"/>
              </a:rPr>
              <a:t> </a:t>
            </a:r>
            <a:r>
              <a:rPr sz="1350" b="1" i="0" dirty="0" err="1">
                <a:solidFill>
                  <a:srgbClr val="C9C0EA"/>
                </a:solidFill>
                <a:latin typeface="Microsoft JhengHei"/>
              </a:rPr>
              <a:t>路線規劃（企業B</a:t>
            </a:r>
            <a:r>
              <a:rPr sz="1350" b="1" i="0" dirty="0">
                <a:solidFill>
                  <a:srgbClr val="C9C0EA"/>
                </a:solidFill>
                <a:latin typeface="Microsoft JhengHei"/>
              </a:rPr>
              <a:t> · 4PL配送商）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JhengHei"/>
              </a:rPr>
              <a:t>換條路線就能證明：問題在路線，不在人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87168" y="1618488"/>
            <a:ext cx="7187184" cy="44439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rt_d2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783080"/>
            <a:ext cx="68580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53212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 b="1">
                <a:solidFill>
                  <a:srgbClr val="4A3AA7"/>
                </a:solidFill>
                <a:latin typeface="Microsoft JhengHei"/>
              </a:rPr>
              <a:t>▪  </a:t>
            </a:r>
            <a:r>
              <a:rPr sz="1450">
                <a:solidFill>
                  <a:srgbClr val="0B0B0B"/>
                </a:solidFill>
                <a:latin typeface="Microsoft JhengHei"/>
              </a:rPr>
              <a:t>控制變量分析：同一位司機 D-07，跑 R-03 僅 18.0%，換到 R-01 是 69.4%、R-05 是 67.3% — 主因是路線本身，不是司機能力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倉儲 × 配送 × 採購 — 三個案例的資料分析總覆盤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C9C0EA"/>
                </a:solidFill>
                <a:latin typeface="Microsoft JhengHei"/>
              </a:rPr>
              <a:t> </a:t>
            </a:r>
            <a:r>
              <a:rPr sz="1350" b="1" i="0" dirty="0" err="1">
                <a:solidFill>
                  <a:srgbClr val="C9C0EA"/>
                </a:solidFill>
                <a:latin typeface="Microsoft JhengHei"/>
              </a:rPr>
              <a:t>路線規劃（企業B</a:t>
            </a:r>
            <a:r>
              <a:rPr sz="1350" b="1" i="0" dirty="0">
                <a:solidFill>
                  <a:srgbClr val="C9C0EA"/>
                </a:solidFill>
                <a:latin typeface="Microsoft JhengHei"/>
              </a:rPr>
              <a:t> · 4PL配送商）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Microsoft JhengHei"/>
              </a:rPr>
              <a:t>三個發現，而不只是「R-03 的問題」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7848" y="2441448"/>
            <a:ext cx="3941064" cy="21351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rt_d2_eve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606040"/>
            <a:ext cx="3611880" cy="18059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783080"/>
            <a:ext cx="72237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5000"/>
              </a:lnSpc>
              <a:spcAft>
                <a:spcPts val="2200"/>
              </a:spcAft>
            </a:pPr>
            <a:r>
              <a:rPr sz="1500" b="1" dirty="0">
                <a:solidFill>
                  <a:srgbClr val="4A3AA7"/>
                </a:solidFill>
                <a:latin typeface="Microsoft JhengHei"/>
              </a:rPr>
              <a:t>▪  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發現1（全公司性，是主要問題）：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排除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 R-03 後，全公司每一位司機、每一條路線，18-19 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點準時率仍集體從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 88% 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降到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 78% — 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是系統性晚間交通壅塞，不是單一司機或路線的問題</a:t>
            </a:r>
            <a:endParaRPr sz="1500" dirty="0">
              <a:solidFill>
                <a:srgbClr val="0B0B0B"/>
              </a:solidFill>
              <a:latin typeface="Microsoft JhengHei"/>
            </a:endParaRPr>
          </a:p>
          <a:p>
            <a:pPr>
              <a:lnSpc>
                <a:spcPct val="135000"/>
              </a:lnSpc>
              <a:spcAft>
                <a:spcPts val="2200"/>
              </a:spcAft>
            </a:pPr>
            <a:r>
              <a:rPr sz="1500" b="1" dirty="0">
                <a:solidFill>
                  <a:srgbClr val="4A3AA7"/>
                </a:solidFill>
                <a:latin typeface="Microsoft JhengHei"/>
              </a:rPr>
              <a:t>▪  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發現2（同樣壅塞下，程度略有差異）：在這個大家都變慢的晚間時段裡，D-07 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扣除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 R-03 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後的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 OTD（68.3%）比其他司機（86-90%）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再低一截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 — 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不是「只有他」有晚班問題，是他在同樣環境下又比別人慢一點，建議了解狀況、不是考核</a:t>
            </a:r>
            <a:endParaRPr sz="1500" dirty="0">
              <a:solidFill>
                <a:srgbClr val="0B0B0B"/>
              </a:solidFill>
              <a:latin typeface="Microsoft JhengHei"/>
            </a:endParaRPr>
          </a:p>
          <a:p>
            <a:pPr>
              <a:lnSpc>
                <a:spcPct val="135000"/>
              </a:lnSpc>
              <a:spcAft>
                <a:spcPts val="2200"/>
              </a:spcAft>
            </a:pPr>
            <a:r>
              <a:rPr sz="1500" b="1" dirty="0">
                <a:solidFill>
                  <a:srgbClr val="4A3AA7"/>
                </a:solidFill>
                <a:latin typeface="Microsoft JhengHei"/>
              </a:rPr>
              <a:t>▪  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發現3（結構性關鍵）：R-03 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長期固定由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 D-03、D-07 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兩人跑，其餘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 10 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位司機從未輪調過</a:t>
            </a:r>
            <a:r>
              <a:rPr sz="1500" dirty="0">
                <a:solidFill>
                  <a:srgbClr val="0B0B0B"/>
                </a:solidFill>
                <a:latin typeface="Microsoft JhengHei"/>
              </a:rPr>
              <a:t> — </a:t>
            </a:r>
            <a:r>
              <a:rPr sz="1500" dirty="0" err="1">
                <a:solidFill>
                  <a:srgbClr val="0B0B0B"/>
                </a:solidFill>
                <a:latin typeface="Microsoft JhengHei"/>
              </a:rPr>
              <a:t>這是排班上的漏洞，也是這次能做出因果判斷的關鍵</a:t>
            </a:r>
            <a:endParaRPr sz="1500" dirty="0">
              <a:solidFill>
                <a:srgbClr val="0B0B0B"/>
              </a:solidFill>
              <a:latin typeface="Microsoft Jheng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倉儲 × 配送 × 採購 — 三個案例的資料分析總覆盤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C9C0EA"/>
                </a:solidFill>
                <a:latin typeface="Microsoft JhengHei"/>
              </a:rPr>
              <a:t> </a:t>
            </a:r>
            <a:r>
              <a:rPr sz="1350" b="1" i="0" dirty="0" err="1">
                <a:solidFill>
                  <a:srgbClr val="C9C0EA"/>
                </a:solidFill>
                <a:latin typeface="Microsoft JhengHei"/>
              </a:rPr>
              <a:t>路線規劃（企業B</a:t>
            </a:r>
            <a:r>
              <a:rPr sz="1350" b="1" i="0" dirty="0">
                <a:solidFill>
                  <a:srgbClr val="C9C0EA"/>
                </a:solidFill>
                <a:latin typeface="Microsoft JhengHei"/>
              </a:rPr>
              <a:t> · 4PL配送商）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JhengHei"/>
              </a:rPr>
              <a:t>治標與治本：分兩個時間軸走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44068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3200" rtlCol="0" anchor="ctr"/>
          <a:lstStyle/>
          <a:p>
            <a:pPr algn="ctr"/>
            <a:r>
              <a:rPr sz="1800" b="1" dirty="0">
                <a:solidFill>
                  <a:srgbClr val="D03B3B"/>
                </a:solidFill>
                <a:latin typeface="Microsoft JhengHei"/>
              </a:rPr>
              <a:t>短期（1週內可動）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 dirty="0">
                <a:solidFill>
                  <a:srgbClr val="0B0B0B"/>
                </a:solidFill>
                <a:latin typeface="Microsoft JhengHei"/>
              </a:rPr>
              <a:t>▪ 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重新校準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 R-03 的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ETA（回補歷史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 +36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分鐘落差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）
→ OTD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目標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 24.9% → 60%+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 dirty="0">
                <a:solidFill>
                  <a:srgbClr val="0B0B0B"/>
                </a:solidFill>
                <a:latin typeface="Microsoft JhengHei"/>
              </a:rPr>
              <a:t>▪ 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全公司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 18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點後出發訂單，ETA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統一加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 8-10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分鐘晚間緩衝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
→ OTD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目標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 78% → 85%+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 dirty="0">
                <a:solidFill>
                  <a:srgbClr val="0B0B0B"/>
                </a:solidFill>
                <a:latin typeface="Microsoft JhengHei"/>
              </a:rPr>
              <a:t>▪ 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本週先安排與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 D-07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一對一了解晚班狀況，暫不調整班表或考核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
（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貿然處分可能讓司機提早出發規避處罰，反而衍生新的早到問題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）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 dirty="0">
                <a:solidFill>
                  <a:srgbClr val="0B0B0B"/>
                </a:solidFill>
                <a:latin typeface="Microsoft JhengHei"/>
              </a:rPr>
              <a:t>▪  R-03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週六加派臨時支援司機，因應假日尖峰</a:t>
            </a:r>
            <a:endParaRPr sz="1300" dirty="0">
              <a:solidFill>
                <a:srgbClr val="0B0B0B"/>
              </a:solidFill>
              <a:latin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45352" y="1783080"/>
            <a:ext cx="544068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3200" rtlCol="0" anchor="ctr"/>
          <a:lstStyle/>
          <a:p>
            <a:pPr algn="ctr"/>
            <a:r>
              <a:rPr sz="1800" b="1">
                <a:solidFill>
                  <a:srgbClr val="4A3AA7"/>
                </a:solidFill>
                <a:latin typeface="Microsoft JhengHei"/>
              </a:rPr>
              <a:t>長期（1-3個月，處理根因）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>
                <a:solidFill>
                  <a:srgbClr val="0B0B0B"/>
                </a:solidFill>
                <a:latin typeface="Microsoft JhengHei"/>
              </a:rPr>
              <a:t>▪  實地測繪 R-03 全路段真實行駛時間，重新設計配送順序或拆分路線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>
                <a:solidFill>
                  <a:srgbClr val="0B0B0B"/>
                </a:solidFill>
                <a:latin typeface="Microsoft JhengHei"/>
              </a:rPr>
              <a:t>▪  把 R-03 排進正常輪調池，每週固定 1-2 位其他司機支援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>
                <a:solidFill>
                  <a:srgbClr val="0B0B0B"/>
                </a:solidFill>
                <a:latin typeface="Microsoft JhengHei"/>
              </a:rPr>
              <a:t>▪  建立「白天/晚間」分時段 ETA 模型，寫進排程系統邏輯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>
                <a:solidFill>
                  <a:srgbClr val="0B0B0B"/>
                </a:solidFill>
                <a:latin typeface="Microsoft JhengHei"/>
              </a:rPr>
              <a:t>▪  假日觀光路段（如 R-03）建立平日/假日兩套排程規則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倉儲 × 配送 × 採購 — 三個案例的資料分析總覆盤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194560"/>
            <a:ext cx="5486400" cy="548640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3474720"/>
            <a:ext cx="3840480" cy="384048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JhengHei"/>
              </a:rPr>
              <a:t>案例三 / 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 dirty="0" err="1">
                <a:solidFill>
                  <a:srgbClr val="E1E0D9"/>
                </a:solidFill>
                <a:latin typeface="Microsoft JhengHei"/>
              </a:rPr>
              <a:t>企業</a:t>
            </a:r>
            <a:r>
              <a:rPr sz="1800" b="0" i="0" dirty="0">
                <a:solidFill>
                  <a:srgbClr val="E1E0D9"/>
                </a:solidFill>
                <a:latin typeface="Microsoft JhengHei"/>
              </a:rPr>
              <a:t> C · </a:t>
            </a:r>
            <a:r>
              <a:rPr sz="1800" b="0" i="0" dirty="0" err="1">
                <a:solidFill>
                  <a:srgbClr val="E1E0D9"/>
                </a:solidFill>
                <a:latin typeface="Microsoft JhengHei"/>
              </a:rPr>
              <a:t>食品批發商</a:t>
            </a:r>
            <a:endParaRPr sz="1800" b="0" i="0" dirty="0">
              <a:solidFill>
                <a:srgbClr val="E1E0D9"/>
              </a:solidFill>
              <a:latin typeface="Microsoft Jheng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 err="1">
                <a:solidFill>
                  <a:srgbClr val="FFFFFF"/>
                </a:solidFill>
                <a:latin typeface="Microsoft JhengHei"/>
              </a:rPr>
              <a:t>供應鏈串接</a:t>
            </a:r>
            <a:endParaRPr sz="40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E1E0D9"/>
                </a:solidFill>
                <a:latin typeface="Microsoft JhengHei"/>
              </a:rPr>
              <a:t>庫存為什麼會積壓？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 err="1">
                <a:solidFill>
                  <a:srgbClr val="8FE6C4"/>
                </a:solidFill>
                <a:latin typeface="Microsoft JhengHei"/>
              </a:rPr>
              <a:t>供應鏈串接（企業C</a:t>
            </a:r>
            <a:r>
              <a:rPr sz="1350" b="1" i="0" dirty="0">
                <a:solidFill>
                  <a:srgbClr val="8FE6C4"/>
                </a:solidFill>
                <a:latin typeface="Microsoft JhengHei"/>
              </a:rPr>
              <a:t> · </a:t>
            </a:r>
            <a:r>
              <a:rPr sz="1350" b="1" i="0" dirty="0" err="1">
                <a:solidFill>
                  <a:srgbClr val="8FE6C4"/>
                </a:solidFill>
                <a:latin typeface="Microsoft JhengHei"/>
              </a:rPr>
              <a:t>食品批發商</a:t>
            </a:r>
            <a:r>
              <a:rPr sz="1350" b="1" i="0" dirty="0">
                <a:solidFill>
                  <a:srgbClr val="8FE6C4"/>
                </a:solidFill>
                <a:latin typeface="Microsoft JhengHei"/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Microsoft JhengHei"/>
              </a:rPr>
              <a:t>業務、倉儲、採購互踢皮球，問題到底在誰？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155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607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TW" altLang="en-US" sz="1600" b="1" dirty="0">
                <a:solidFill>
                  <a:srgbClr val="0B0B0B"/>
                </a:solidFill>
                <a:latin typeface="Microsoft JhengHei"/>
              </a:rPr>
              <a:t>問題</a:t>
            </a:r>
            <a:r>
              <a:rPr sz="1600" b="1" i="0" dirty="0">
                <a:solidFill>
                  <a:srgbClr val="0B0B0B"/>
                </a:solidFill>
                <a:latin typeface="Microsoft JhengHei"/>
              </a:rPr>
              <a:t>：C </a:t>
            </a:r>
            <a:r>
              <a:rPr sz="1600" b="1" i="0" dirty="0" err="1">
                <a:solidFill>
                  <a:srgbClr val="0B0B0B"/>
                </a:solidFill>
                <a:latin typeface="Microsoft JhengHei"/>
              </a:rPr>
              <a:t>類庫存暴增</a:t>
            </a:r>
            <a:r>
              <a:rPr sz="1600" b="1" i="0" dirty="0">
                <a:solidFill>
                  <a:srgbClr val="0B0B0B"/>
                </a:solidFill>
                <a:latin typeface="Microsoft JhengHei"/>
              </a:rPr>
              <a:t> 30%，</a:t>
            </a:r>
            <a:r>
              <a:rPr sz="1600" b="1" i="0" dirty="0" err="1">
                <a:solidFill>
                  <a:srgbClr val="0B0B0B"/>
                </a:solidFill>
                <a:latin typeface="Microsoft JhengHei"/>
              </a:rPr>
              <a:t>業務說沒問題、倉儲說沒問題、採購也說沒問題</a:t>
            </a:r>
            <a:endParaRPr sz="1600" b="1" i="0" dirty="0">
              <a:solidFill>
                <a:srgbClr val="0B0B0B"/>
              </a:solidFill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1BAF7A"/>
                </a:solidFill>
                <a:latin typeface="Microsoft JhengHei"/>
              </a:rPr>
              <a:t>▪  </a:t>
            </a:r>
            <a:r>
              <a:rPr sz="1500">
                <a:solidFill>
                  <a:srgbClr val="0B0B0B"/>
                </a:solidFill>
                <a:latin typeface="Microsoft JhengHei"/>
              </a:rPr>
              <a:t>方法：Merge 採購單、進貨明細、4 個月銷售明細三張表，用「過去三個月均量」對照「9 月當月」數字找出主因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61188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Ins="15240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採購過量</a:t>
            </a:r>
          </a:p>
          <a:p>
            <a:pPr algn="ctr"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  <a:latin typeface="Microsoft JhengHei"/>
              </a:rPr>
              <a:t>進貨量 &gt; 過去三月均量 ×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61188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Ins="15240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銷售下滑</a:t>
            </a:r>
          </a:p>
          <a:p>
            <a:pPr algn="ctr"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  <a:latin typeface="Microsoft JhengHei"/>
              </a:rPr>
              <a:t>9月銷量 &lt; 過去三月均量 × 0.5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61188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Ins="15240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前置期過長</a:t>
            </a:r>
          </a:p>
          <a:p>
            <a:pPr algn="ctr"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  <a:latin typeface="Microsoft JhengHei"/>
              </a:rPr>
              <a:t>單批實際 LT &gt; 計畫 LT × 1.5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361188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Ins="15240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品質退貨</a:t>
            </a:r>
          </a:p>
          <a:p>
            <a:pPr algn="ctr">
              <a:spcBef>
                <a:spcPts val="800"/>
              </a:spcBef>
            </a:pPr>
            <a:r>
              <a:rPr sz="1200">
                <a:solidFill>
                  <a:srgbClr val="FFFFFF"/>
                </a:solidFill>
                <a:latin typeface="Microsoft JhengHei"/>
              </a:rPr>
              <a:t>不良率 &gt; 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864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2514E"/>
                </a:solidFill>
                <a:latin typeface="Microsoft JhengHei"/>
              </a:rPr>
              <a:t>四個門檻是供應鏈管理慣用的量化標準（進貨/銷售倍數、前置期比值、不良率），非本次分析臨時拍板；判定準則可疊加，皆未觸發則列為「待觀察」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倉儲 × 配送 × 採購 — 三個案例的資料分析總覆盤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 err="1">
                <a:solidFill>
                  <a:srgbClr val="8FE6C4"/>
                </a:solidFill>
                <a:latin typeface="Microsoft JhengHei"/>
              </a:rPr>
              <a:t>供應鏈串接（企業C</a:t>
            </a:r>
            <a:r>
              <a:rPr sz="1350" b="1" i="0" dirty="0">
                <a:solidFill>
                  <a:srgbClr val="8FE6C4"/>
                </a:solidFill>
                <a:latin typeface="Microsoft JhengHei"/>
              </a:rPr>
              <a:t> · </a:t>
            </a:r>
            <a:r>
              <a:rPr sz="1350" b="1" i="0" dirty="0" err="1">
                <a:solidFill>
                  <a:srgbClr val="8FE6C4"/>
                </a:solidFill>
                <a:latin typeface="Microsoft JhengHei"/>
              </a:rPr>
              <a:t>食品批發商</a:t>
            </a:r>
            <a:r>
              <a:rPr sz="1350" b="1" i="0" dirty="0">
                <a:solidFill>
                  <a:srgbClr val="8FE6C4"/>
                </a:solidFill>
                <a:latin typeface="Microsoft JhengHei"/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Microsoft JhengHei"/>
              </a:rPr>
              <a:t>Top 5 積壓 SKU，主因集中在「採購過量」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664208"/>
            <a:ext cx="6912864" cy="41407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rt_d8_back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583680" cy="38116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828800"/>
            <a:ext cx="425196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49540" y="1828800"/>
            <a:ext cx="36576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1300" b="1" dirty="0">
                <a:solidFill>
                  <a:srgbClr val="1BAF7A"/>
                </a:solidFill>
                <a:latin typeface="Microsoft JhengHei"/>
              </a:rPr>
              <a:t>▪ 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最嚴重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 S-1015：進貨量是過去三月均量的 10.3 倍，積壓 864 件（≈NT$67,357）</a:t>
            </a:r>
          </a:p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1300" b="1" dirty="0">
                <a:solidFill>
                  <a:srgbClr val="1BAF7A"/>
                </a:solidFill>
                <a:latin typeface="Microsoft JhengHei"/>
              </a:rPr>
              <a:t>▪  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Top 5 中有 3 檔（S-1015、S-1023、S-1042）明確可歸因「採購過量」，佔六成，合計積壓金額約 NT$129,653</a:t>
            </a:r>
          </a:p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1300" b="1" dirty="0">
                <a:solidFill>
                  <a:srgbClr val="1BAF7A"/>
                </a:solidFill>
                <a:latin typeface="Microsoft JhengHei"/>
              </a:rPr>
              <a:t>▪  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另 2 檔（S-1048、S-1035）查無單一明確主因，合計積壓金額約 NT$41,673，數字卡在門檻邊緣，建議先觀察、不急著砍單</a:t>
            </a:r>
          </a:p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1300" b="1" dirty="0">
                <a:solidFill>
                  <a:srgbClr val="1BAF7A"/>
                </a:solidFill>
                <a:latin typeface="Microsoft JhengHei"/>
              </a:rPr>
              <a:t>▪  </a:t>
            </a:r>
            <a:r>
              <a:rPr sz="1300" b="1" dirty="0">
                <a:solidFill>
                  <a:srgbClr val="0B0B0B"/>
                </a:solidFill>
                <a:latin typeface="Microsoft JhengHei"/>
              </a:rPr>
              <a:t>建議：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優先暫停已確診 SKU 的下一輪採購（合計影響金額約 NT$171,326），並重新校正安全庫存基準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倉儲 × 配送 × 採購 — 三個案例的資料分析總覆盤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 err="1">
                <a:solidFill>
                  <a:srgbClr val="8FE6C4"/>
                </a:solidFill>
                <a:latin typeface="Microsoft JhengHei"/>
              </a:rPr>
              <a:t>D供應鏈串接（企業C</a:t>
            </a:r>
            <a:r>
              <a:rPr sz="1350" b="1" i="0" dirty="0">
                <a:solidFill>
                  <a:srgbClr val="8FE6C4"/>
                </a:solidFill>
                <a:latin typeface="Microsoft JhengHei"/>
              </a:rPr>
              <a:t> · </a:t>
            </a:r>
            <a:r>
              <a:rPr sz="1350" b="1" i="0" dirty="0" err="1">
                <a:solidFill>
                  <a:srgbClr val="8FE6C4"/>
                </a:solidFill>
                <a:latin typeface="Microsoft JhengHei"/>
              </a:rPr>
              <a:t>食品批發商</a:t>
            </a:r>
            <a:r>
              <a:rPr sz="1350" b="1" i="0" dirty="0">
                <a:solidFill>
                  <a:srgbClr val="8FE6C4"/>
                </a:solidFill>
                <a:latin typeface="Microsoft JhengHei"/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icrosoft JhengHei"/>
              </a:rPr>
              <a:t>50 個 SKU 全面掃描：14 個要盯，36 個沒事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664208"/>
            <a:ext cx="7004304" cy="342834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art_d8_rootc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675120" cy="3099163"/>
          </a:xfrm>
          <a:prstGeom prst="rect">
            <a:avLst/>
          </a:prstGeom>
        </p:spPr>
      </p:pic>
      <p:sp>
        <p:nvSpPr>
          <p:cNvPr id="12" name="Callout S-1007"/>
          <p:cNvSpPr txBox="1"/>
          <p:nvPr/>
        </p:nvSpPr>
        <p:spPr>
          <a:xfrm>
            <a:off x="1979150" y="2704630"/>
            <a:ext cx="3602531" cy="589034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12700">
            <a:solidFill>
              <a:srgbClr val="E8A33D"/>
            </a:solidFill>
          </a:ln>
        </p:spPr>
        <p:txBody>
          <a:bodyPr wrap="square" lIns="91440" tIns="27432" rIns="91440" bIns="27432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TW" sz="1000" b="1">
                <a:solidFill>
                  <a:srgbClr val="C0392B"/>
                </a:solidFill>
                <a:latin typeface="Microsoft JhengHei"/>
              </a:rPr>
              <a:t>◄ S-1007：</a:t>
            </a:r>
            <a:r>
              <a:rPr lang="zh-TW" sz="1000">
                <a:solidFill>
                  <a:srgbClr val="0B0B0B"/>
                </a:solidFill>
                <a:latin typeface="Microsoft JhengHei"/>
              </a:rPr>
              <a:t>進貨30倍均量＋9月0出貨（雙重觸發），積壓僅60件、未進Top5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828800"/>
            <a:ext cx="41605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56616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250" b="1" dirty="0">
                <a:solidFill>
                  <a:srgbClr val="1BAF7A"/>
                </a:solidFill>
                <a:latin typeface="Microsoft JhengHei"/>
              </a:rPr>
              <a:t>▪  </a:t>
            </a:r>
            <a:r>
              <a:rPr sz="1250" dirty="0">
                <a:solidFill>
                  <a:srgbClr val="0B0B0B"/>
                </a:solidFill>
                <a:latin typeface="Microsoft JhengHei"/>
              </a:rPr>
              <a:t>14 個（28%）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觸發預警，其中</a:t>
            </a:r>
            <a:r>
              <a:rPr sz="1250" dirty="0">
                <a:solidFill>
                  <a:srgbClr val="0B0B0B"/>
                </a:solidFill>
                <a:latin typeface="Microsoft JhengHei"/>
              </a:rPr>
              <a:t> 12 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檔是「採購過量</a:t>
            </a:r>
            <a:r>
              <a:rPr sz="1250" dirty="0">
                <a:solidFill>
                  <a:srgbClr val="0B0B0B"/>
                </a:solidFill>
                <a:latin typeface="Microsoft JhengHei"/>
              </a:rPr>
              <a:t>」— 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不是只有</a:t>
            </a:r>
            <a:r>
              <a:rPr sz="1250" dirty="0">
                <a:solidFill>
                  <a:srgbClr val="0B0B0B"/>
                </a:solidFill>
                <a:latin typeface="Microsoft JhengHei"/>
              </a:rPr>
              <a:t> S-1015，包含 </a:t>
            </a:r>
            <a:r>
              <a:rPr sz="1250" b="1" dirty="0">
                <a:solidFill>
                  <a:srgbClr val="C0392B"/>
                </a:solidFill>
                <a:latin typeface="Microsoft JhengHei"/>
              </a:rPr>
              <a:t>S-1007</a:t>
            </a:r>
            <a:r>
              <a:rPr sz="1250" dirty="0">
                <a:solidFill>
                  <a:srgbClr val="0B0B0B"/>
                </a:solidFill>
                <a:latin typeface="Microsoft JhengHei"/>
              </a:rPr>
              <a:t> 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這種積壓量只有</a:t>
            </a:r>
            <a:r>
              <a:rPr sz="1250" dirty="0">
                <a:solidFill>
                  <a:srgbClr val="0B0B0B"/>
                </a:solidFill>
                <a:latin typeface="Microsoft JhengHei"/>
              </a:rPr>
              <a:t> 60 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件、沒進</a:t>
            </a:r>
            <a:r>
              <a:rPr sz="1250" dirty="0">
                <a:solidFill>
                  <a:srgbClr val="0B0B0B"/>
                </a:solidFill>
                <a:latin typeface="Microsoft JhengHei"/>
              </a:rPr>
              <a:t> Top 5，但進貨是均量 30 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倍的極端案例</a:t>
            </a:r>
            <a:endParaRPr sz="1250" dirty="0">
              <a:solidFill>
                <a:srgbClr val="0B0B0B"/>
              </a:solidFill>
              <a:latin typeface="Microsoft JhengHei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250" b="1" dirty="0">
                <a:solidFill>
                  <a:srgbClr val="1BAF7A"/>
                </a:solidFill>
                <a:latin typeface="Microsoft JhengHei"/>
              </a:rPr>
              <a:t>▪  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另外</a:t>
            </a:r>
            <a:r>
              <a:rPr sz="1250" dirty="0">
                <a:solidFill>
                  <a:srgbClr val="0B0B0B"/>
                </a:solidFill>
                <a:latin typeface="Microsoft JhengHei"/>
              </a:rPr>
              <a:t> 36 個（72%）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沒有觸發任何門檻，屬於正常波動，現在不需要處理</a:t>
            </a:r>
            <a:endParaRPr sz="1250" dirty="0">
              <a:solidFill>
                <a:srgbClr val="0B0B0B"/>
              </a:solidFill>
              <a:latin typeface="Microsoft JhengHei"/>
            </a:endParaRP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250" b="1" dirty="0">
                <a:solidFill>
                  <a:srgbClr val="1BAF7A"/>
                </a:solidFill>
                <a:latin typeface="Microsoft JhengHei"/>
              </a:rPr>
              <a:t>▪  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反向警訊：另有</a:t>
            </a:r>
            <a:r>
              <a:rPr sz="1250" dirty="0">
                <a:solidFill>
                  <a:srgbClr val="0B0B0B"/>
                </a:solidFill>
                <a:latin typeface="Microsoft JhengHei"/>
              </a:rPr>
              <a:t> 5 檔 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SKU「訂了卻</a:t>
            </a:r>
            <a:r>
              <a:rPr sz="1250" dirty="0">
                <a:solidFill>
                  <a:srgbClr val="0B0B0B"/>
                </a:solidFill>
                <a:latin typeface="Microsoft JhengHei"/>
              </a:rPr>
              <a:t> 0 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進貨</a:t>
            </a:r>
            <a:r>
              <a:rPr sz="1250" dirty="0">
                <a:solidFill>
                  <a:srgbClr val="0B0B0B"/>
                </a:solidFill>
                <a:latin typeface="Microsoft JhengHei"/>
              </a:rPr>
              <a:t>」— </a:t>
            </a:r>
            <a:r>
              <a:rPr sz="1250" dirty="0" err="1">
                <a:solidFill>
                  <a:srgbClr val="0B0B0B"/>
                </a:solidFill>
                <a:latin typeface="Microsoft JhengHei"/>
              </a:rPr>
              <a:t>是斷貨風險，跟庫存積壓的處方相反，不能一律要求減少採購</a:t>
            </a:r>
            <a:endParaRPr sz="1250" dirty="0">
              <a:solidFill>
                <a:srgbClr val="0B0B0B"/>
              </a:solidFill>
              <a:latin typeface="Microsoft Jheng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倉儲 × 配送 × 採購 — 三個案例的資料分析總覆盤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2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8FE6C4"/>
                </a:solidFill>
                <a:latin typeface="Microsoft JhengHei"/>
              </a:rPr>
              <a:t> </a:t>
            </a:r>
            <a:r>
              <a:rPr sz="1350" b="1" i="0" dirty="0" err="1">
                <a:solidFill>
                  <a:srgbClr val="8FE6C4"/>
                </a:solidFill>
                <a:latin typeface="Microsoft JhengHei"/>
              </a:rPr>
              <a:t>供應鏈串接（企業C</a:t>
            </a:r>
            <a:r>
              <a:rPr sz="1350" b="1" i="0" dirty="0">
                <a:solidFill>
                  <a:srgbClr val="8FE6C4"/>
                </a:solidFill>
                <a:latin typeface="Microsoft JhengHei"/>
              </a:rPr>
              <a:t> · </a:t>
            </a:r>
            <a:r>
              <a:rPr sz="1350" b="1" i="0" dirty="0" err="1">
                <a:solidFill>
                  <a:srgbClr val="8FE6C4"/>
                </a:solidFill>
                <a:latin typeface="Microsoft JhengHei"/>
              </a:rPr>
              <a:t>食品批發商</a:t>
            </a:r>
            <a:r>
              <a:rPr sz="1350" b="1" i="0" dirty="0">
                <a:solidFill>
                  <a:srgbClr val="8FE6C4"/>
                </a:solidFill>
                <a:latin typeface="Microsoft JhengHei"/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JhengHei"/>
              </a:rPr>
              <a:t>治標與治本：把一次性分析變成長期機制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44068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3200" rtlCol="0" anchor="ctr"/>
          <a:lstStyle/>
          <a:p>
            <a:pPr algn="ctr"/>
            <a:r>
              <a:rPr sz="1800" b="1">
                <a:solidFill>
                  <a:srgbClr val="D03B3B"/>
                </a:solidFill>
                <a:latin typeface="Microsoft JhengHei"/>
              </a:rPr>
              <a:t>短期（1-2週內可動）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>
                <a:solidFill>
                  <a:srgbClr val="0B0B0B"/>
                </a:solidFill>
                <a:latin typeface="Microsoft JhengHei"/>
              </a:rPr>
              <a:t>▪  暫停全部 12 檔已確診「採購過量」SKU（含 S-1015、S-1023 等）的下一輪採購，逐檔重算安全庫存基準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>
                <a:solidFill>
                  <a:srgbClr val="0B0B0B"/>
                </a:solidFill>
                <a:latin typeface="Microsoft JhengHei"/>
              </a:rPr>
              <a:t>▪  5 檔「訂了卻 0 進貨」的斷貨風險 SKU，優先跟供應商催貨確認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>
                <a:solidFill>
                  <a:srgbClr val="0B0B0B"/>
                </a:solidFill>
                <a:latin typeface="Microsoft JhengHei"/>
              </a:rPr>
              <a:t>▪  14 個觸發預警的 SKU 逐一核對進貨批次記錄，確認是否為一次性事件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>
                <a:solidFill>
                  <a:srgbClr val="0B0B0B"/>
                </a:solidFill>
                <a:latin typeface="Microsoft JhengHei"/>
              </a:rPr>
              <a:t>▪  36 個未觸發門檻的 SKU 維持正常採購節奏，不需要現在介入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783080"/>
            <a:ext cx="544068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3200" rtlCol="0" anchor="ctr"/>
          <a:lstStyle/>
          <a:p>
            <a:pPr algn="ctr"/>
            <a:r>
              <a:rPr sz="1800" b="1" dirty="0">
                <a:solidFill>
                  <a:srgbClr val="0F7A55"/>
                </a:solidFill>
                <a:latin typeface="Microsoft JhengHei"/>
              </a:rPr>
              <a:t>長期（1-3個月，處理根因）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 dirty="0">
                <a:solidFill>
                  <a:srgbClr val="0B0B0B"/>
                </a:solidFill>
                <a:latin typeface="Microsoft JhengHei"/>
              </a:rPr>
              <a:t>▪ 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把四個門檻寫成每月自動預警機制，不再是一次性分析，往後每月自動抓出需要關注的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 SKU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 dirty="0">
                <a:solidFill>
                  <a:srgbClr val="0B0B0B"/>
                </a:solidFill>
                <a:latin typeface="Microsoft JhengHei"/>
              </a:rPr>
              <a:t>▪ 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針對長期反覆「採購過量」的供應商，檢討訂購邏輯與最小訂購量（MOQ）設定</a:t>
            </a:r>
            <a:endParaRPr sz="1300" dirty="0">
              <a:solidFill>
                <a:srgbClr val="0B0B0B"/>
              </a:solidFill>
              <a:latin typeface="Microsoft JhengHei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300" dirty="0">
                <a:solidFill>
                  <a:srgbClr val="0B0B0B"/>
                </a:solidFill>
                <a:latin typeface="Microsoft JhengHei"/>
              </a:rPr>
              <a:t>▪ 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建立「積壓</a:t>
            </a:r>
            <a:r>
              <a:rPr sz="1300" dirty="0">
                <a:solidFill>
                  <a:srgbClr val="0B0B0B"/>
                </a:solidFill>
                <a:latin typeface="Microsoft JhengHei"/>
              </a:rPr>
              <a:t> vs </a:t>
            </a:r>
            <a:r>
              <a:rPr sz="1300" dirty="0" err="1">
                <a:solidFill>
                  <a:srgbClr val="0B0B0B"/>
                </a:solidFill>
                <a:latin typeface="Microsoft JhengHei"/>
              </a:rPr>
              <a:t>斷貨」雙向監控儀表板，兩種風險並列，避免只顧一邊</a:t>
            </a:r>
            <a:endParaRPr sz="1300" dirty="0">
              <a:solidFill>
                <a:srgbClr val="0B0B0B"/>
              </a:solidFill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倉儲 × 配送 × 採購 — 三個案例的資料分析總覆盤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241280" y="4206240"/>
            <a:ext cx="4206240" cy="4206240"/>
          </a:xfrm>
          <a:prstGeom prst="ellipse">
            <a:avLst/>
          </a:prstGeom>
          <a:solidFill>
            <a:srgbClr val="1C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EC5F4"/>
                </a:solidFill>
                <a:latin typeface="Microsoft JhengHei"/>
              </a:rPr>
              <a:t>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JhengHei"/>
              </a:rPr>
              <a:t>一句話總結，三個決策請老闆拍板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C3C2B7"/>
                </a:solidFill>
                <a:latin typeface="Microsoft JhengHei"/>
              </a:rPr>
              <a:t>三個案子分屬三家不同企業，方法一致：先分清楚「症狀」跟「根因」，證據不足處列為待觀察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06040"/>
            <a:ext cx="10789920" cy="1051560"/>
          </a:xfrm>
          <a:prstGeom prst="roundRect">
            <a:avLst>
              <a:gd name="adj" fmla="val 10000"/>
            </a:avLst>
          </a:prstGeom>
          <a:solidFill>
            <a:srgbClr val="1C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5600" rtlCol="0" anchor="ctr"/>
          <a:lstStyle/>
          <a:p>
            <a:pPr algn="l"/>
            <a:r>
              <a:rPr sz="1500" b="1">
                <a:solidFill>
                  <a:srgbClr val="2A78D6"/>
                </a:solidFill>
                <a:latin typeface="Microsoft JhengHei"/>
              </a:rPr>
              <a:t>Ask 1　</a:t>
            </a:r>
            <a:r>
              <a:rPr sz="1700" b="1">
                <a:solidFill>
                  <a:srgbClr val="FFFFFF"/>
                </a:solidFill>
                <a:latin typeface="Microsoft JhengHei"/>
              </a:rPr>
              <a:t>儲位 ABC 分類制度化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3C2B7"/>
                </a:solidFill>
                <a:latin typeface="Microsoft JhengHei"/>
              </a:rPr>
              <a:t>建議每季重跑一次，避免季節性商品讓黃金儲位錯置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06040"/>
            <a:ext cx="82296" cy="1051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3858768"/>
            <a:ext cx="10789920" cy="1051560"/>
          </a:xfrm>
          <a:prstGeom prst="roundRect">
            <a:avLst>
              <a:gd name="adj" fmla="val 10000"/>
            </a:avLst>
          </a:prstGeom>
          <a:solidFill>
            <a:srgbClr val="1C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5600" rtlCol="0" anchor="ctr"/>
          <a:lstStyle/>
          <a:p>
            <a:pPr algn="l"/>
            <a:r>
              <a:rPr sz="1500" b="1">
                <a:solidFill>
                  <a:srgbClr val="4A3AA7"/>
                </a:solidFill>
                <a:latin typeface="Microsoft JhengHei"/>
              </a:rPr>
              <a:t>Ask 2　</a:t>
            </a:r>
            <a:r>
              <a:rPr sz="1700" b="1">
                <a:solidFill>
                  <a:srgbClr val="FFFFFF"/>
                </a:solidFill>
                <a:latin typeface="Microsoft JhengHei"/>
              </a:rPr>
              <a:t>R-03 路線 ETA 重新校準 + 排入輪調池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3C2B7"/>
                </a:solidFill>
                <a:latin typeface="Microsoft JhengHei"/>
              </a:rPr>
              <a:t>授權排程主管執行，目標 OTD 60%+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58768"/>
            <a:ext cx="82296" cy="105156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5111496"/>
            <a:ext cx="10789920" cy="1051560"/>
          </a:xfrm>
          <a:prstGeom prst="roundRect">
            <a:avLst>
              <a:gd name="adj" fmla="val 10000"/>
            </a:avLst>
          </a:prstGeom>
          <a:solidFill>
            <a:srgbClr val="1C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55600" rtlCol="0" anchor="ctr"/>
          <a:lstStyle/>
          <a:p>
            <a:pPr algn="l"/>
            <a:r>
              <a:rPr sz="1500" b="1">
                <a:solidFill>
                  <a:srgbClr val="1BAF7A"/>
                </a:solidFill>
                <a:latin typeface="Microsoft JhengHei"/>
              </a:rPr>
              <a:t>Ask 3　</a:t>
            </a:r>
            <a:r>
              <a:rPr sz="1700" b="1">
                <a:solidFill>
                  <a:srgbClr val="FFFFFF"/>
                </a:solidFill>
                <a:latin typeface="Microsoft JhengHei"/>
              </a:rPr>
              <a:t>S-1015 等 SKU 暫停下一輪採購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3C2B7"/>
                </a:solidFill>
                <a:latin typeface="Microsoft JhengHei"/>
              </a:rPr>
              <a:t>重算安全庫存基準，其餘觀察 1 個月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111496"/>
            <a:ext cx="82296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898781"/>
                </a:solidFill>
                <a:latin typeface="Microsoft JhengHei"/>
              </a:rPr>
              <a:t>謝謝老闆，開放討論與提問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1529</Words>
  <Application>Microsoft Office PowerPoint</Application>
  <PresentationFormat>寬螢幕</PresentationFormat>
  <Paragraphs>160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User</cp:lastModifiedBy>
  <cp:revision>14</cp:revision>
  <dcterms:created xsi:type="dcterms:W3CDTF">2013-01-27T09:14:16Z</dcterms:created>
  <dcterms:modified xsi:type="dcterms:W3CDTF">2026-07-10T05:06:20Z</dcterms:modified>
  <cp:category/>
</cp:coreProperties>
</file>